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7"/>
  </p:notesMasterIdLst>
  <p:handoutMasterIdLst>
    <p:handoutMasterId r:id="rId18"/>
  </p:handoutMasterIdLst>
  <p:sldIdLst>
    <p:sldId id="257" r:id="rId5"/>
    <p:sldId id="268" r:id="rId6"/>
    <p:sldId id="267" r:id="rId7"/>
    <p:sldId id="272" r:id="rId8"/>
    <p:sldId id="269" r:id="rId9"/>
    <p:sldId id="270" r:id="rId10"/>
    <p:sldId id="259" r:id="rId11"/>
    <p:sldId id="261" r:id="rId12"/>
    <p:sldId id="273" r:id="rId13"/>
    <p:sldId id="274" r:id="rId14"/>
    <p:sldId id="262" r:id="rId15"/>
    <p:sldId id="265" r:id="rId16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4404"/>
    <a:srgbClr val="5F6F0F"/>
    <a:srgbClr val="718412"/>
    <a:srgbClr val="65741A"/>
    <a:srgbClr val="70811D"/>
    <a:srgbClr val="7B8D1F"/>
    <a:srgbClr val="839721"/>
    <a:srgbClr val="95AB25"/>
    <a:srgbClr val="BC5500"/>
    <a:srgbClr val="C45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>
      <p:cViewPr varScale="1">
        <p:scale>
          <a:sx n="82" d="100"/>
          <a:sy n="82" d="100"/>
        </p:scale>
        <p:origin x="720" y="72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5B4EDC-59C0-49C7-8ADA-5A781B329E02}" type="datetimeFigureOut">
              <a:rPr lang="en-US"/>
              <a:t>7/17/2026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429053-DC2A-4342-ADD4-2FD729D91E2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D8D46A-B586-417D-BFBD-8C8FE0AAF762}" type="datetimeFigureOut">
              <a:rPr lang="en-US"/>
              <a:t>7/17/2026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BA5BD7-F043-4D1B-AA17-CD412FC534D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2290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4" name="Straight Connector 13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" name="bottom lines"/>
          <p:cNvGrpSpPr/>
          <p:nvPr/>
        </p:nvGrpSpPr>
        <p:grpSpPr>
          <a:xfrm>
            <a:off x="-8916" y="6057149"/>
            <a:ext cx="5498726" cy="820207"/>
            <a:chOff x="-6689" y="4553748"/>
            <a:chExt cx="4125119" cy="615155"/>
          </a:xfrm>
        </p:grpSpPr>
        <p:sp>
          <p:nvSpPr>
            <p:cNvPr id="9" name="Freeform 8"/>
            <p:cNvSpPr/>
            <p:nvPr/>
          </p:nvSpPr>
          <p:spPr>
            <a:xfrm rot="16200000">
              <a:off x="1754302" y="2802395"/>
              <a:ext cx="612775" cy="411548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4115481 h 4115481"/>
                <a:gd name="connsiteX1" fmla="*/ 612775 w 612775"/>
                <a:gd name="connsiteY1" fmla="*/ 3180443 h 4115481"/>
                <a:gd name="connsiteX2" fmla="*/ 612775 w 612775"/>
                <a:gd name="connsiteY2" fmla="*/ 0 h 4115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4115481">
                  <a:moveTo>
                    <a:pt x="0" y="4115481"/>
                  </a:moveTo>
                  <a:lnTo>
                    <a:pt x="612775" y="3180443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0" name="Freeform 9"/>
            <p:cNvSpPr/>
            <p:nvPr/>
          </p:nvSpPr>
          <p:spPr>
            <a:xfrm rot="16200000">
              <a:off x="1604659" y="3152814"/>
              <a:ext cx="410751" cy="3621427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  <a:gd name="connsiteX0" fmla="*/ 0 w 410751"/>
                <a:gd name="connsiteY0" fmla="*/ 3614170 h 3614170"/>
                <a:gd name="connsiteX1" fmla="*/ 410751 w 410751"/>
                <a:gd name="connsiteY1" fmla="*/ 2990994 h 3614170"/>
                <a:gd name="connsiteX2" fmla="*/ 405947 w 410751"/>
                <a:gd name="connsiteY2" fmla="*/ 0 h 3614170"/>
                <a:gd name="connsiteX0" fmla="*/ 0 w 410751"/>
                <a:gd name="connsiteY0" fmla="*/ 3621427 h 3621427"/>
                <a:gd name="connsiteX1" fmla="*/ 410751 w 410751"/>
                <a:gd name="connsiteY1" fmla="*/ 2998251 h 3621427"/>
                <a:gd name="connsiteX2" fmla="*/ 405947 w 410751"/>
                <a:gd name="connsiteY2" fmla="*/ 0 h 3621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621427">
                  <a:moveTo>
                    <a:pt x="0" y="3621427"/>
                  </a:moveTo>
                  <a:lnTo>
                    <a:pt x="410751" y="2998251"/>
                  </a:lnTo>
                  <a:cubicBezTo>
                    <a:pt x="410359" y="2065358"/>
                    <a:pt x="406339" y="932893"/>
                    <a:pt x="405947" y="0"/>
                  </a:cubicBez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 rot="16200000">
              <a:off x="1462308" y="3453376"/>
              <a:ext cx="241768" cy="31797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  <a:gd name="connsiteX0" fmla="*/ 0 w 241768"/>
                <a:gd name="connsiteY0" fmla="*/ 3179761 h 3179761"/>
                <a:gd name="connsiteX1" fmla="*/ 238919 w 241768"/>
                <a:gd name="connsiteY1" fmla="*/ 2819370 h 3179761"/>
                <a:gd name="connsiteX2" fmla="*/ 241754 w 241768"/>
                <a:gd name="connsiteY2" fmla="*/ 0 h 317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768" h="3179761">
                  <a:moveTo>
                    <a:pt x="0" y="3179761"/>
                  </a:moveTo>
                  <a:lnTo>
                    <a:pt x="238919" y="2819370"/>
                  </a:lnTo>
                  <a:cubicBezTo>
                    <a:pt x="238654" y="1947313"/>
                    <a:pt x="242019" y="872057"/>
                    <a:pt x="241754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5176" y="584200"/>
            <a:ext cx="8735325" cy="2000251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5176" y="2616200"/>
            <a:ext cx="8735325" cy="17526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sp>
        <p:nvSpPr>
          <p:cNvPr id="22" name="Date Placeholder 2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7/17/2026</a:t>
            </a:fld>
            <a:endParaRPr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7488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7/17/2026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6769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2" name="Straight Connector 11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177" y="2209801"/>
            <a:ext cx="8938472" cy="2764335"/>
          </a:xfrm>
        </p:spPr>
        <p:txBody>
          <a:bodyPr anchor="b">
            <a:normAutofit/>
          </a:bodyPr>
          <a:lstStyle>
            <a:lvl1pPr algn="l">
              <a:defRPr sz="5400" b="0" cap="none" baseline="0"/>
            </a:lvl1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5176" y="4951266"/>
            <a:ext cx="7069519" cy="1220933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7/17/2026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6330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0707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7/17/2026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7647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18883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96644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00707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7/17/2026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381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7/17/2026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5229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7/17/2026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2478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4971" y="584200"/>
            <a:ext cx="6094413" cy="55880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7/17/2026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18139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5484971" y="584200"/>
            <a:ext cx="6094413" cy="5588000"/>
          </a:xfrm>
          <a:ln w="12700">
            <a:solidFill>
              <a:schemeClr val="bg1">
                <a:lumMod val="75000"/>
                <a:lumOff val="25000"/>
              </a:schemeClr>
            </a:solidFill>
            <a:miter lim="800000"/>
          </a:ln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GB"/>
              <a:t>Click icon to add picture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7/17/2026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343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7/17/2026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667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584200"/>
            <a:ext cx="2742486" cy="55880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8882" y="584200"/>
            <a:ext cx="7414869" cy="5588000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7/17/2026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88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100000"/>
                <a:shade val="0"/>
                <a:satMod val="100000"/>
              </a:schemeClr>
            </a:gs>
            <a:gs pos="85000">
              <a:schemeClr val="bg2">
                <a:tint val="100000"/>
                <a:shade val="30000"/>
                <a:satMod val="100000"/>
              </a:schemeClr>
            </a:gs>
            <a:gs pos="100000">
              <a:schemeClr val="bg2">
                <a:shade val="60000"/>
                <a:satMod val="10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left lines"/>
          <p:cNvGrpSpPr/>
          <p:nvPr/>
        </p:nvGrpSpPr>
        <p:grpSpPr>
          <a:xfrm>
            <a:off x="-15870" y="-3174"/>
            <a:ext cx="819993" cy="5229225"/>
            <a:chOff x="-11906" y="-2381"/>
            <a:chExt cx="615155" cy="3921919"/>
          </a:xfrm>
        </p:grpSpPr>
        <p:sp>
          <p:nvSpPr>
            <p:cNvPr id="10" name="Freeform 9"/>
            <p:cNvSpPr/>
            <p:nvPr/>
          </p:nvSpPr>
          <p:spPr>
            <a:xfrm>
              <a:off x="-9526" y="0"/>
              <a:ext cx="612775" cy="3919538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3919538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>
              <a:off x="-11906" y="0"/>
              <a:ext cx="410751" cy="3421856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421856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Freeform 13"/>
            <p:cNvSpPr/>
            <p:nvPr/>
          </p:nvSpPr>
          <p:spPr>
            <a:xfrm>
              <a:off x="-7144" y="-2381"/>
              <a:ext cx="238919" cy="29765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919" h="2976561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797"/>
            <a:ext cx="10360501" cy="446227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18882" y="6356352"/>
            <a:ext cx="2234618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DFD029-FB74-4578-B929-F66AA97659CA}" type="datetimeFigureOut">
              <a:rPr lang="en-US"/>
              <a:pPr/>
              <a:t>7/17/2026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3501" y="6356352"/>
            <a:ext cx="5281824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3649" y="6356352"/>
            <a:ext cx="101573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4DD1E-5D91-48A3-AD6D-45FBA980D10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5275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0000"/>
        </a:lnSpc>
        <a:spcBef>
          <a:spcPts val="1600"/>
        </a:spcBef>
        <a:buClr>
          <a:schemeClr val="accent1"/>
        </a:buClr>
        <a:buSzPct val="10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8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73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48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322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97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272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mailto:abc@gmail.co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google.com/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5176" y="584200"/>
            <a:ext cx="8519301" cy="2000251"/>
          </a:xfrm>
        </p:spPr>
        <p:txBody>
          <a:bodyPr>
            <a:noAutofit/>
          </a:bodyPr>
          <a:lstStyle/>
          <a:p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Designing Efficient Regular Expression Patterns for Information Extraction</a:t>
            </a:r>
            <a:endParaRPr lang="en-US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5806380" y="4725144"/>
            <a:ext cx="4338097" cy="1244848"/>
          </a:xfrm>
        </p:spPr>
        <p:txBody>
          <a:bodyPr>
            <a:normAutofit lnSpcReduction="10000"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P. Dada Kalander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192424272</a:t>
            </a:r>
          </a:p>
        </p:txBody>
      </p:sp>
    </p:spTree>
    <p:extLst>
      <p:ext uri="{BB962C8B-B14F-4D97-AF65-F5344CB8AC3E}">
        <p14:creationId xmlns:p14="http://schemas.microsoft.com/office/powerpoint/2010/main" val="1332291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218883" y="116632"/>
            <a:ext cx="10360501" cy="804669"/>
          </a:xfrm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6383635-2B1B-F6CA-A6E9-583F969E5D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2114129"/>
              </p:ext>
            </p:extLst>
          </p:nvPr>
        </p:nvGraphicFramePr>
        <p:xfrm>
          <a:off x="1125860" y="5809930"/>
          <a:ext cx="10360026" cy="914400"/>
        </p:xfrm>
        <a:graphic>
          <a:graphicData uri="http://schemas.openxmlformats.org/drawingml/2006/table">
            <a:tbl>
              <a:tblPr/>
              <a:tblGrid>
                <a:gridCol w="3453342">
                  <a:extLst>
                    <a:ext uri="{9D8B030D-6E8A-4147-A177-3AD203B41FA5}">
                      <a16:colId xmlns:a16="http://schemas.microsoft.com/office/drawing/2014/main" val="2326972560"/>
                    </a:ext>
                  </a:extLst>
                </a:gridCol>
                <a:gridCol w="3453342">
                  <a:extLst>
                    <a:ext uri="{9D8B030D-6E8A-4147-A177-3AD203B41FA5}">
                      <a16:colId xmlns:a16="http://schemas.microsoft.com/office/drawing/2014/main" val="163642257"/>
                    </a:ext>
                  </a:extLst>
                </a:gridCol>
                <a:gridCol w="3453342">
                  <a:extLst>
                    <a:ext uri="{9D8B030D-6E8A-4147-A177-3AD203B41FA5}">
                      <a16:colId xmlns:a16="http://schemas.microsoft.com/office/drawing/2014/main" val="281879543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Email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Phone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39844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John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john@gmail.com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9876543210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085073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D4A663F-61A2-EECF-B5E5-F62D18A9A0DA}"/>
              </a:ext>
            </a:extLst>
          </p:cNvPr>
          <p:cNvSpPr txBox="1"/>
          <p:nvPr/>
        </p:nvSpPr>
        <p:spPr>
          <a:xfrm>
            <a:off x="1125859" y="764704"/>
            <a:ext cx="11062965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Information Extraction?</a:t>
            </a: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Extraction (IE) is the process of automatically extracting useful structured information from unstructured text.</a:t>
            </a: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</a:t>
            </a: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</a:p>
          <a:p>
            <a:pPr rtl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John lives in Chennai.</a:t>
            </a:r>
          </a:p>
          <a:p>
            <a:pPr rtl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Email:</a:t>
            </a:r>
          </a:p>
          <a:p>
            <a:pPr rtl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john@gmail.com</a:t>
            </a:r>
          </a:p>
          <a:p>
            <a:pPr rtl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Phone:</a:t>
            </a:r>
          </a:p>
          <a:p>
            <a:pPr rtl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9876543210</a:t>
            </a: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A6B223-2BC6-5BD6-E695-B6E3508D4B66}"/>
              </a:ext>
            </a:extLst>
          </p:cNvPr>
          <p:cNvSpPr txBox="1"/>
          <p:nvPr/>
        </p:nvSpPr>
        <p:spPr>
          <a:xfrm>
            <a:off x="6958508" y="2156076"/>
            <a:ext cx="610688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is it important?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manual work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Saves time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accuracy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large text datasets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AI and NLP applications</a:t>
            </a:r>
          </a:p>
        </p:txBody>
      </p:sp>
    </p:spTree>
    <p:extLst>
      <p:ext uri="{BB962C8B-B14F-4D97-AF65-F5344CB8AC3E}">
        <p14:creationId xmlns:p14="http://schemas.microsoft.com/office/powerpoint/2010/main" val="3529114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1197868" y="8721"/>
            <a:ext cx="10360501" cy="1223963"/>
          </a:xfrm>
        </p:spPr>
        <p:txBody>
          <a:bodyPr/>
          <a:lstStyle/>
          <a:p>
            <a:r>
              <a:rPr lang="en-IN" dirty="0"/>
              <a:t>What is Regular Expression (Regex)?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EDAFDF-A8D5-EBE3-7069-EEDE1EB22961}"/>
              </a:ext>
            </a:extLst>
          </p:cNvPr>
          <p:cNvSpPr txBox="1"/>
          <p:nvPr/>
        </p:nvSpPr>
        <p:spPr>
          <a:xfrm>
            <a:off x="981844" y="1772816"/>
            <a:ext cx="9649072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</a:t>
            </a: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Regular Expression (Regex) is a sequence of characters used to search, match, validate, and extract text patterns.</a:t>
            </a:r>
          </a:p>
          <a:p>
            <a:pPr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  <a:p>
            <a:pPr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Regex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\d{10}</a:t>
            </a:r>
          </a:p>
          <a:p>
            <a:pPr rtl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Matches</a:t>
            </a:r>
          </a:p>
          <a:p>
            <a:pPr rtl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9876543210</a:t>
            </a:r>
          </a:p>
        </p:txBody>
      </p:sp>
    </p:spTree>
    <p:extLst>
      <p:ext uri="{BB962C8B-B14F-4D97-AF65-F5344CB8AC3E}">
        <p14:creationId xmlns:p14="http://schemas.microsoft.com/office/powerpoint/2010/main" val="1484811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CF5C6E-CA09-D9C1-D616-1F25C0076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715EB61-C9CF-5E43-44C7-2AE27992B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9876" y="398799"/>
            <a:ext cx="10360501" cy="589880"/>
          </a:xfrm>
        </p:spPr>
        <p:txBody>
          <a:bodyPr>
            <a:normAutofit fontScale="90000"/>
          </a:bodyPr>
          <a:lstStyle/>
          <a:p>
            <a:r>
              <a:rPr lang="en-IN" dirty="0"/>
              <a:t>What is Regular Expression (Regex)?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C553400-5BBD-0F84-342E-7C557F8F905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80938067"/>
              </p:ext>
            </p:extLst>
          </p:nvPr>
        </p:nvGraphicFramePr>
        <p:xfrm>
          <a:off x="1343303" y="1701801"/>
          <a:ext cx="10111818" cy="4462460"/>
        </p:xfrm>
        <a:graphic>
          <a:graphicData uri="http://schemas.openxmlformats.org/drawingml/2006/table">
            <a:tbl>
              <a:tblPr/>
              <a:tblGrid>
                <a:gridCol w="3370606">
                  <a:extLst>
                    <a:ext uri="{9D8B030D-6E8A-4147-A177-3AD203B41FA5}">
                      <a16:colId xmlns:a16="http://schemas.microsoft.com/office/drawing/2014/main" val="259911333"/>
                    </a:ext>
                  </a:extLst>
                </a:gridCol>
                <a:gridCol w="3370606">
                  <a:extLst>
                    <a:ext uri="{9D8B030D-6E8A-4147-A177-3AD203B41FA5}">
                      <a16:colId xmlns:a16="http://schemas.microsoft.com/office/drawing/2014/main" val="4042893241"/>
                    </a:ext>
                  </a:extLst>
                </a:gridCol>
                <a:gridCol w="3370606">
                  <a:extLst>
                    <a:ext uri="{9D8B030D-6E8A-4147-A177-3AD203B41FA5}">
                      <a16:colId xmlns:a16="http://schemas.microsoft.com/office/drawing/2014/main" val="688430731"/>
                    </a:ext>
                  </a:extLst>
                </a:gridCol>
              </a:tblGrid>
              <a:tr h="446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300"/>
                        <a:t>Symbol</a:t>
                      </a:r>
                    </a:p>
                  </a:txBody>
                  <a:tcPr marL="89249" marR="89249" marT="44625" marB="44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300"/>
                        <a:t>Meaning</a:t>
                      </a:r>
                    </a:p>
                  </a:txBody>
                  <a:tcPr marL="89249" marR="89249" marT="44625" marB="44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300"/>
                        <a:t>Example</a:t>
                      </a:r>
                    </a:p>
                  </a:txBody>
                  <a:tcPr marL="89249" marR="89249" marT="44625" marB="44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9540752"/>
                  </a:ext>
                </a:extLst>
              </a:tr>
              <a:tr h="446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300"/>
                        <a:t>.</a:t>
                      </a:r>
                    </a:p>
                  </a:txBody>
                  <a:tcPr marL="89249" marR="89249" marT="44625" marB="44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300"/>
                        <a:t>Any character</a:t>
                      </a:r>
                    </a:p>
                  </a:txBody>
                  <a:tcPr marL="89249" marR="89249" marT="44625" marB="44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300"/>
                        <a:t>a.c</a:t>
                      </a:r>
                    </a:p>
                  </a:txBody>
                  <a:tcPr marL="89249" marR="89249" marT="44625" marB="44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4998647"/>
                  </a:ext>
                </a:extLst>
              </a:tr>
              <a:tr h="446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300"/>
                        <a:t>*</a:t>
                      </a:r>
                    </a:p>
                  </a:txBody>
                  <a:tcPr marL="89249" marR="89249" marT="44625" marB="44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300"/>
                        <a:t>Zero or more</a:t>
                      </a:r>
                    </a:p>
                  </a:txBody>
                  <a:tcPr marL="89249" marR="89249" marT="44625" marB="44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300"/>
                        <a:t>ab*</a:t>
                      </a:r>
                    </a:p>
                  </a:txBody>
                  <a:tcPr marL="89249" marR="89249" marT="44625" marB="44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3427476"/>
                  </a:ext>
                </a:extLst>
              </a:tr>
              <a:tr h="446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300" dirty="0"/>
                        <a:t>+</a:t>
                      </a:r>
                    </a:p>
                  </a:txBody>
                  <a:tcPr marL="89249" marR="89249" marT="44625" marB="44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300"/>
                        <a:t>One or more</a:t>
                      </a:r>
                    </a:p>
                  </a:txBody>
                  <a:tcPr marL="89249" marR="89249" marT="44625" marB="44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300"/>
                        <a:t>ab+</a:t>
                      </a:r>
                    </a:p>
                  </a:txBody>
                  <a:tcPr marL="89249" marR="89249" marT="44625" marB="44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686145"/>
                  </a:ext>
                </a:extLst>
              </a:tr>
              <a:tr h="446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300"/>
                        <a:t>?</a:t>
                      </a:r>
                    </a:p>
                  </a:txBody>
                  <a:tcPr marL="89249" marR="89249" marT="44625" marB="44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300"/>
                        <a:t>Optional</a:t>
                      </a:r>
                    </a:p>
                  </a:txBody>
                  <a:tcPr marL="89249" marR="89249" marT="44625" marB="44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300"/>
                        <a:t>colou?r</a:t>
                      </a:r>
                    </a:p>
                  </a:txBody>
                  <a:tcPr marL="89249" marR="89249" marT="44625" marB="44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3268160"/>
                  </a:ext>
                </a:extLst>
              </a:tr>
              <a:tr h="446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300"/>
                        <a:t>\d</a:t>
                      </a:r>
                    </a:p>
                  </a:txBody>
                  <a:tcPr marL="89249" marR="89249" marT="44625" marB="44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300"/>
                        <a:t>Digit</a:t>
                      </a:r>
                    </a:p>
                  </a:txBody>
                  <a:tcPr marL="89249" marR="89249" marT="44625" marB="44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300"/>
                        <a:t>\d+</a:t>
                      </a:r>
                    </a:p>
                  </a:txBody>
                  <a:tcPr marL="89249" marR="89249" marT="44625" marB="44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5271386"/>
                  </a:ext>
                </a:extLst>
              </a:tr>
              <a:tr h="446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300"/>
                        <a:t>\w</a:t>
                      </a:r>
                    </a:p>
                  </a:txBody>
                  <a:tcPr marL="89249" marR="89249" marT="44625" marB="44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300"/>
                        <a:t>Word</a:t>
                      </a:r>
                    </a:p>
                  </a:txBody>
                  <a:tcPr marL="89249" marR="89249" marT="44625" marB="44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300"/>
                        <a:t>\w+</a:t>
                      </a:r>
                    </a:p>
                  </a:txBody>
                  <a:tcPr marL="89249" marR="89249" marT="44625" marB="44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0911339"/>
                  </a:ext>
                </a:extLst>
              </a:tr>
              <a:tr h="446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300"/>
                        <a:t>[]</a:t>
                      </a:r>
                    </a:p>
                  </a:txBody>
                  <a:tcPr marL="89249" marR="89249" marT="44625" marB="44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300"/>
                        <a:t>Character set</a:t>
                      </a:r>
                    </a:p>
                  </a:txBody>
                  <a:tcPr marL="89249" marR="89249" marT="44625" marB="44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300"/>
                        <a:t>[A-Z]</a:t>
                      </a:r>
                    </a:p>
                  </a:txBody>
                  <a:tcPr marL="89249" marR="89249" marT="44625" marB="44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2464631"/>
                  </a:ext>
                </a:extLst>
              </a:tr>
              <a:tr h="446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300"/>
                        <a:t>^</a:t>
                      </a:r>
                    </a:p>
                  </a:txBody>
                  <a:tcPr marL="89249" marR="89249" marT="44625" marB="44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300"/>
                        <a:t>Starts with</a:t>
                      </a:r>
                    </a:p>
                  </a:txBody>
                  <a:tcPr marL="89249" marR="89249" marT="44625" marB="44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300"/>
                        <a:t>^Hello</a:t>
                      </a:r>
                    </a:p>
                  </a:txBody>
                  <a:tcPr marL="89249" marR="89249" marT="44625" marB="44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5611082"/>
                  </a:ext>
                </a:extLst>
              </a:tr>
              <a:tr h="446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300"/>
                        <a:t>$</a:t>
                      </a:r>
                    </a:p>
                  </a:txBody>
                  <a:tcPr marL="89249" marR="89249" marT="44625" marB="44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300"/>
                        <a:t>Ends with</a:t>
                      </a:r>
                    </a:p>
                  </a:txBody>
                  <a:tcPr marL="89249" marR="89249" marT="44625" marB="44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300" dirty="0"/>
                        <a:t>end$</a:t>
                      </a:r>
                    </a:p>
                  </a:txBody>
                  <a:tcPr marL="89249" marR="89249" marT="44625" marB="44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102367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DD02BB38-C196-A933-B5BD-ABF9A3E9D590}"/>
              </a:ext>
            </a:extLst>
          </p:cNvPr>
          <p:cNvSpPr txBox="1"/>
          <p:nvPr/>
        </p:nvSpPr>
        <p:spPr>
          <a:xfrm>
            <a:off x="1557908" y="1098991"/>
            <a:ext cx="61068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Regex Symbols</a:t>
            </a:r>
          </a:p>
        </p:txBody>
      </p:sp>
    </p:spTree>
    <p:extLst>
      <p:ext uri="{BB962C8B-B14F-4D97-AF65-F5344CB8AC3E}">
        <p14:creationId xmlns:p14="http://schemas.microsoft.com/office/powerpoint/2010/main" val="1475037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5860" y="116632"/>
            <a:ext cx="10360501" cy="805904"/>
          </a:xfrm>
        </p:spPr>
        <p:txBody>
          <a:bodyPr/>
          <a:lstStyle/>
          <a:p>
            <a:r>
              <a:rPr lang="en-IN" dirty="0"/>
              <a:t>Working Process of Regex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17D6C1-992E-AE38-45B2-A87A8461EDED}"/>
              </a:ext>
            </a:extLst>
          </p:cNvPr>
          <p:cNvSpPr txBox="1"/>
          <p:nvPr/>
        </p:nvSpPr>
        <p:spPr>
          <a:xfrm>
            <a:off x="1269876" y="1052736"/>
            <a:ext cx="61068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Information Extraction Workflow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1BFF7A7-4655-53AC-7934-2D284E437626}"/>
              </a:ext>
            </a:extLst>
          </p:cNvPr>
          <p:cNvGrpSpPr/>
          <p:nvPr/>
        </p:nvGrpSpPr>
        <p:grpSpPr>
          <a:xfrm>
            <a:off x="1269877" y="1772817"/>
            <a:ext cx="1728192" cy="790414"/>
            <a:chOff x="0" y="0"/>
            <a:chExt cx="4316650" cy="1339691"/>
          </a:xfrm>
        </p:grpSpPr>
        <p:sp>
          <p:nvSpPr>
            <p:cNvPr id="12" name="Rectangle: Rounded Corners 11" descr="Staggered process showing 3 tasks arranged one below the other and two downward pointing arrows are used to indicate progression from first task to second task and second task to third task.">
              <a:extLst>
                <a:ext uri="{FF2B5EF4-FFF2-40B4-BE49-F238E27FC236}">
                  <a16:creationId xmlns:a16="http://schemas.microsoft.com/office/drawing/2014/main" id="{68A0CD7A-FA8E-90C9-9766-490FC0A963E2}"/>
                </a:ext>
              </a:extLst>
            </p:cNvPr>
            <p:cNvSpPr/>
            <p:nvPr/>
          </p:nvSpPr>
          <p:spPr>
            <a:xfrm>
              <a:off x="0" y="0"/>
              <a:ext cx="4316650" cy="1339691"/>
            </a:xfrm>
            <a:prstGeom prst="roundRect">
              <a:avLst>
                <a:gd name="adj" fmla="val 10000"/>
              </a:avLst>
            </a:prstGeom>
            <a:gradFill rotWithShape="0">
              <a:gsLst>
                <a:gs pos="0">
                  <a:srgbClr val="703000"/>
                </a:gs>
                <a:gs pos="50000">
                  <a:srgbClr val="A44A00"/>
                </a:gs>
                <a:gs pos="70000">
                  <a:srgbClr val="BC5500"/>
                </a:gs>
                <a:gs pos="100000">
                  <a:srgbClr val="F26D00"/>
                </a:gs>
              </a:gsLst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2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3" name="Rectangle: Rounded Corners 4">
              <a:extLst>
                <a:ext uri="{FF2B5EF4-FFF2-40B4-BE49-F238E27FC236}">
                  <a16:creationId xmlns:a16="http://schemas.microsoft.com/office/drawing/2014/main" id="{152B1FA6-A00B-7B7F-8E4C-9A45A2D07E05}"/>
                </a:ext>
              </a:extLst>
            </p:cNvPr>
            <p:cNvSpPr txBox="1"/>
            <p:nvPr/>
          </p:nvSpPr>
          <p:spPr>
            <a:xfrm>
              <a:off x="39238" y="39238"/>
              <a:ext cx="2871019" cy="126121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20980" tIns="220980" rIns="220980" bIns="220980" numCol="1" spcCol="1270" anchor="ctr" anchorCtr="0">
              <a:noAutofit/>
            </a:bodyPr>
            <a:lstStyle/>
            <a:p>
              <a:pPr marL="0" lvl="0" indent="0" algn="l" defTabSz="2578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Raw Text</a:t>
              </a:r>
              <a:endParaRPr lang="en-US" kern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DF7F82A-0A4F-0404-9D63-02060D503741}"/>
              </a:ext>
            </a:extLst>
          </p:cNvPr>
          <p:cNvGrpSpPr/>
          <p:nvPr/>
        </p:nvGrpSpPr>
        <p:grpSpPr>
          <a:xfrm>
            <a:off x="3849349" y="1713365"/>
            <a:ext cx="3255465" cy="870799"/>
            <a:chOff x="380880" y="1562972"/>
            <a:chExt cx="4316650" cy="1339691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396EB319-BF01-2B0D-43D3-4C77A6059837}"/>
                </a:ext>
              </a:extLst>
            </p:cNvPr>
            <p:cNvSpPr/>
            <p:nvPr/>
          </p:nvSpPr>
          <p:spPr>
            <a:xfrm>
              <a:off x="380880" y="1562972"/>
              <a:ext cx="4316650" cy="1339691"/>
            </a:xfrm>
            <a:prstGeom prst="roundRect">
              <a:avLst>
                <a:gd name="adj" fmla="val 10000"/>
              </a:avLst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0"/>
                <a:satOff val="0"/>
                <a:lumOff val="0"/>
                <a:alphaOff val="0"/>
              </a:schemeClr>
            </a:fillRef>
            <a:effectRef idx="2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6" name="Rectangle: Rounded Corners 4">
              <a:extLst>
                <a:ext uri="{FF2B5EF4-FFF2-40B4-BE49-F238E27FC236}">
                  <a16:creationId xmlns:a16="http://schemas.microsoft.com/office/drawing/2014/main" id="{B65359B7-7FAA-36F8-8F18-0FF29C379FB3}"/>
                </a:ext>
              </a:extLst>
            </p:cNvPr>
            <p:cNvSpPr txBox="1"/>
            <p:nvPr/>
          </p:nvSpPr>
          <p:spPr>
            <a:xfrm>
              <a:off x="420118" y="1602210"/>
              <a:ext cx="2986494" cy="126121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20980" tIns="220980" rIns="220980" bIns="220980" numCol="1" spcCol="1270" anchor="ctr" anchorCtr="0">
              <a:noAutofit/>
            </a:bodyPr>
            <a:lstStyle/>
            <a:p>
              <a:pPr marL="0" lvl="0" indent="0" algn="l" defTabSz="2578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Text Preprocessing</a:t>
              </a:r>
              <a:endParaRPr lang="en-US" kern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9A2467D-87CD-4303-9236-DF5CA77F3A41}"/>
              </a:ext>
            </a:extLst>
          </p:cNvPr>
          <p:cNvGrpSpPr/>
          <p:nvPr/>
        </p:nvGrpSpPr>
        <p:grpSpPr>
          <a:xfrm>
            <a:off x="7989083" y="1749121"/>
            <a:ext cx="2662381" cy="835043"/>
            <a:chOff x="761761" y="3125945"/>
            <a:chExt cx="4316650" cy="1339691"/>
          </a:xfrm>
        </p:grpSpPr>
        <p:sp>
          <p:nvSpPr>
            <p:cNvPr id="18" name="Rectangle: Rounded Corners 17" descr="Staggered process showing 3 tasks arranged one below the other and two downward pointing arrows are used to indicate progression from first task to second task and second task to third task.">
              <a:extLst>
                <a:ext uri="{FF2B5EF4-FFF2-40B4-BE49-F238E27FC236}">
                  <a16:creationId xmlns:a16="http://schemas.microsoft.com/office/drawing/2014/main" id="{CE24A148-AEB7-A7DE-E720-1C2BBBCC7C72}"/>
                </a:ext>
              </a:extLst>
            </p:cNvPr>
            <p:cNvSpPr/>
            <p:nvPr/>
          </p:nvSpPr>
          <p:spPr>
            <a:xfrm>
              <a:off x="761761" y="3125945"/>
              <a:ext cx="4316650" cy="1339691"/>
            </a:xfrm>
            <a:prstGeom prst="roundRect">
              <a:avLst>
                <a:gd name="adj" fmla="val 10000"/>
              </a:avLst>
            </a:prstGeom>
            <a:gradFill rotWithShape="0">
              <a:gsLst>
                <a:gs pos="0">
                  <a:srgbClr val="394404"/>
                </a:gs>
                <a:gs pos="50000">
                  <a:srgbClr val="5F6F0F"/>
                </a:gs>
                <a:gs pos="70000">
                  <a:srgbClr val="65741A"/>
                </a:gs>
                <a:gs pos="100000">
                  <a:schemeClr val="accent4">
                    <a:hueOff val="0"/>
                    <a:satOff val="0"/>
                    <a:lumOff val="0"/>
                    <a:alphaOff val="0"/>
                    <a:tint val="100000"/>
                    <a:shade val="100000"/>
                    <a:satMod val="155000"/>
                  </a:schemeClr>
                </a:gs>
              </a:gsLst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2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>
                <a:solidFill>
                  <a:schemeClr val="tx2">
                    <a:lumMod val="40000"/>
                    <a:lumOff val="60000"/>
                  </a:schemeClr>
                </a:solidFill>
              </a:endParaRPr>
            </a:p>
          </p:txBody>
        </p:sp>
        <p:sp>
          <p:nvSpPr>
            <p:cNvPr id="19" name="Rectangle: Rounded Corners 4">
              <a:extLst>
                <a:ext uri="{FF2B5EF4-FFF2-40B4-BE49-F238E27FC236}">
                  <a16:creationId xmlns:a16="http://schemas.microsoft.com/office/drawing/2014/main" id="{1ADEE5B8-D3A5-A99B-CFC1-DA0D64F1C1FD}"/>
                </a:ext>
              </a:extLst>
            </p:cNvPr>
            <p:cNvSpPr txBox="1"/>
            <p:nvPr/>
          </p:nvSpPr>
          <p:spPr>
            <a:xfrm>
              <a:off x="800999" y="3165183"/>
              <a:ext cx="2986494" cy="126121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20980" tIns="220980" rIns="220980" bIns="220980" numCol="1" spcCol="1270" anchor="ctr" anchorCtr="0">
              <a:noAutofit/>
            </a:bodyPr>
            <a:lstStyle/>
            <a:p>
              <a:pPr marL="0" lvl="0" indent="0" algn="l" defTabSz="2578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Regular Expression</a:t>
              </a:r>
              <a:endParaRPr lang="en-US" kern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BC90896-4EBC-E9E0-70AA-A3059FAA8195}"/>
              </a:ext>
            </a:extLst>
          </p:cNvPr>
          <p:cNvGrpSpPr/>
          <p:nvPr/>
        </p:nvGrpSpPr>
        <p:grpSpPr>
          <a:xfrm rot="16200000">
            <a:off x="3132352" y="1740224"/>
            <a:ext cx="604535" cy="870799"/>
            <a:chOff x="3445850" y="1015932"/>
            <a:chExt cx="870799" cy="870799"/>
          </a:xfrm>
        </p:grpSpPr>
        <p:sp>
          <p:nvSpPr>
            <p:cNvPr id="21" name="Arrow: Down 20">
              <a:extLst>
                <a:ext uri="{FF2B5EF4-FFF2-40B4-BE49-F238E27FC236}">
                  <a16:creationId xmlns:a16="http://schemas.microsoft.com/office/drawing/2014/main" id="{D3511DC9-67D9-C2EC-4718-BA6832A9F631}"/>
                </a:ext>
              </a:extLst>
            </p:cNvPr>
            <p:cNvSpPr/>
            <p:nvPr/>
          </p:nvSpPr>
          <p:spPr>
            <a:xfrm>
              <a:off x="3445850" y="1015932"/>
              <a:ext cx="870799" cy="870799"/>
            </a:xfrm>
            <a:prstGeom prst="downArrow">
              <a:avLst>
                <a:gd name="adj1" fmla="val 55000"/>
                <a:gd name="adj2" fmla="val 45000"/>
              </a:avLst>
            </a:prstGeom>
          </p:spPr>
          <p:style>
            <a:lnRef idx="1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2" name="Arrow: Down 4">
              <a:extLst>
                <a:ext uri="{FF2B5EF4-FFF2-40B4-BE49-F238E27FC236}">
                  <a16:creationId xmlns:a16="http://schemas.microsoft.com/office/drawing/2014/main" id="{C46069D0-F50C-3170-5B6E-95BA8362A446}"/>
                </a:ext>
              </a:extLst>
            </p:cNvPr>
            <p:cNvSpPr txBox="1"/>
            <p:nvPr/>
          </p:nvSpPr>
          <p:spPr>
            <a:xfrm>
              <a:off x="3641780" y="1015932"/>
              <a:ext cx="478939" cy="65527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5720" tIns="45720" rIns="45720" bIns="45720" numCol="1" spcCol="1270" anchor="ctr" anchorCtr="0">
              <a:noAutofit/>
            </a:bodyPr>
            <a:lstStyle/>
            <a:p>
              <a:pPr marL="0" lvl="0" indent="0" algn="ctr" defTabSz="1600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3600" kern="120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794EE37-AE50-9B19-9F0F-0AF9B5B881DB}"/>
              </a:ext>
            </a:extLst>
          </p:cNvPr>
          <p:cNvGrpSpPr/>
          <p:nvPr/>
        </p:nvGrpSpPr>
        <p:grpSpPr>
          <a:xfrm rot="16200000">
            <a:off x="7235125" y="1749735"/>
            <a:ext cx="609247" cy="870799"/>
            <a:chOff x="3445850" y="1015932"/>
            <a:chExt cx="870799" cy="870799"/>
          </a:xfrm>
        </p:grpSpPr>
        <p:sp>
          <p:nvSpPr>
            <p:cNvPr id="24" name="Arrow: Down 23">
              <a:extLst>
                <a:ext uri="{FF2B5EF4-FFF2-40B4-BE49-F238E27FC236}">
                  <a16:creationId xmlns:a16="http://schemas.microsoft.com/office/drawing/2014/main" id="{58349FA5-D8C3-7261-F151-371A0F772144}"/>
                </a:ext>
              </a:extLst>
            </p:cNvPr>
            <p:cNvSpPr/>
            <p:nvPr/>
          </p:nvSpPr>
          <p:spPr>
            <a:xfrm>
              <a:off x="3445850" y="1015932"/>
              <a:ext cx="870799" cy="870799"/>
            </a:xfrm>
            <a:prstGeom prst="downArrow">
              <a:avLst>
                <a:gd name="adj1" fmla="val 55000"/>
                <a:gd name="adj2" fmla="val 45000"/>
              </a:avLst>
            </a:prstGeom>
          </p:spPr>
          <p:style>
            <a:lnRef idx="1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5" name="Arrow: Down 4">
              <a:extLst>
                <a:ext uri="{FF2B5EF4-FFF2-40B4-BE49-F238E27FC236}">
                  <a16:creationId xmlns:a16="http://schemas.microsoft.com/office/drawing/2014/main" id="{461D02D8-1A1D-733D-127C-B4574C7CE602}"/>
                </a:ext>
              </a:extLst>
            </p:cNvPr>
            <p:cNvSpPr txBox="1"/>
            <p:nvPr/>
          </p:nvSpPr>
          <p:spPr>
            <a:xfrm>
              <a:off x="3641780" y="1015932"/>
              <a:ext cx="478939" cy="65527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5720" tIns="45720" rIns="45720" bIns="45720" numCol="1" spcCol="1270" anchor="ctr" anchorCtr="0">
              <a:noAutofit/>
            </a:bodyPr>
            <a:lstStyle/>
            <a:p>
              <a:pPr marL="0" lvl="0" indent="0" algn="ctr" defTabSz="1600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3600" kern="1200" dirty="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61EA19A-42DB-92DE-7F77-3D1D462CEBB3}"/>
              </a:ext>
            </a:extLst>
          </p:cNvPr>
          <p:cNvGrpSpPr/>
          <p:nvPr/>
        </p:nvGrpSpPr>
        <p:grpSpPr>
          <a:xfrm>
            <a:off x="8062075" y="3447251"/>
            <a:ext cx="2662381" cy="949607"/>
            <a:chOff x="761761" y="3125945"/>
            <a:chExt cx="4316650" cy="1339691"/>
          </a:xfrm>
        </p:grpSpPr>
        <p:sp>
          <p:nvSpPr>
            <p:cNvPr id="27" name="Rectangle: Rounded Corners 26" descr="Staggered process showing 3 tasks arranged one below the other and two downward pointing arrows are used to indicate progression from first task to second task and second task to third task.">
              <a:extLst>
                <a:ext uri="{FF2B5EF4-FFF2-40B4-BE49-F238E27FC236}">
                  <a16:creationId xmlns:a16="http://schemas.microsoft.com/office/drawing/2014/main" id="{BDE8159B-8FB9-EA74-F9F2-CD00AA5C5771}"/>
                </a:ext>
              </a:extLst>
            </p:cNvPr>
            <p:cNvSpPr/>
            <p:nvPr/>
          </p:nvSpPr>
          <p:spPr>
            <a:xfrm>
              <a:off x="761761" y="3125945"/>
              <a:ext cx="4316650" cy="1339691"/>
            </a:xfrm>
            <a:prstGeom prst="roundRect">
              <a:avLst>
                <a:gd name="adj" fmla="val 10000"/>
              </a:avLst>
            </a:prstGeom>
            <a:solidFill>
              <a:schemeClr val="bg2">
                <a:lumMod val="60000"/>
                <a:lumOff val="40000"/>
              </a:schemeClr>
            </a:soli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2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>
                <a:solidFill>
                  <a:schemeClr val="tx2">
                    <a:lumMod val="40000"/>
                    <a:lumOff val="60000"/>
                  </a:schemeClr>
                </a:solidFill>
              </a:endParaRPr>
            </a:p>
          </p:txBody>
        </p:sp>
        <p:sp>
          <p:nvSpPr>
            <p:cNvPr id="28" name="Rectangle: Rounded Corners 4">
              <a:extLst>
                <a:ext uri="{FF2B5EF4-FFF2-40B4-BE49-F238E27FC236}">
                  <a16:creationId xmlns:a16="http://schemas.microsoft.com/office/drawing/2014/main" id="{A0DD19E4-9589-13B3-DF77-7AEB4F6BD797}"/>
                </a:ext>
              </a:extLst>
            </p:cNvPr>
            <p:cNvSpPr txBox="1"/>
            <p:nvPr/>
          </p:nvSpPr>
          <p:spPr>
            <a:xfrm>
              <a:off x="800999" y="3165183"/>
              <a:ext cx="2986494" cy="126121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20980" tIns="220980" rIns="220980" bIns="220980" numCol="1" spcCol="1270" anchor="ctr" anchorCtr="0">
              <a:noAutofit/>
            </a:bodyPr>
            <a:lstStyle/>
            <a:p>
              <a:pPr marL="0" lvl="0" indent="0" algn="l" defTabSz="2578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Pattern Matching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C5739CC2-A3F4-DA42-69A2-52A06E3DE841}"/>
              </a:ext>
            </a:extLst>
          </p:cNvPr>
          <p:cNvGrpSpPr/>
          <p:nvPr/>
        </p:nvGrpSpPr>
        <p:grpSpPr>
          <a:xfrm>
            <a:off x="4441317" y="3509230"/>
            <a:ext cx="2788272" cy="870799"/>
            <a:chOff x="380880" y="1562972"/>
            <a:chExt cx="4316650" cy="1339691"/>
          </a:xfrm>
          <a:solidFill>
            <a:srgbClr val="0070C0"/>
          </a:solidFill>
        </p:grpSpPr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CC1FE83E-E387-C896-7976-A842EAC878C1}"/>
                </a:ext>
              </a:extLst>
            </p:cNvPr>
            <p:cNvSpPr/>
            <p:nvPr/>
          </p:nvSpPr>
          <p:spPr>
            <a:xfrm>
              <a:off x="380880" y="1562972"/>
              <a:ext cx="4316650" cy="1339691"/>
            </a:xfrm>
            <a:prstGeom prst="roundRect">
              <a:avLst>
                <a:gd name="adj" fmla="val 10000"/>
              </a:avLst>
            </a:prstGeom>
            <a:grpFill/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0"/>
                <a:satOff val="0"/>
                <a:lumOff val="0"/>
                <a:alphaOff val="0"/>
              </a:schemeClr>
            </a:fillRef>
            <a:effectRef idx="2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4" name="Rectangle: Rounded Corners 4">
              <a:extLst>
                <a:ext uri="{FF2B5EF4-FFF2-40B4-BE49-F238E27FC236}">
                  <a16:creationId xmlns:a16="http://schemas.microsoft.com/office/drawing/2014/main" id="{34CEE1F7-7DE2-A2C6-DA94-2D3FA6EEA86C}"/>
                </a:ext>
              </a:extLst>
            </p:cNvPr>
            <p:cNvSpPr txBox="1"/>
            <p:nvPr/>
          </p:nvSpPr>
          <p:spPr>
            <a:xfrm>
              <a:off x="420118" y="1602210"/>
              <a:ext cx="2986494" cy="1261215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20980" tIns="220980" rIns="220980" bIns="220980" numCol="1" spcCol="1270" anchor="ctr" anchorCtr="0">
              <a:noAutofit/>
            </a:bodyPr>
            <a:lstStyle/>
            <a:p>
              <a:pPr marL="0" lvl="0" indent="0" algn="l" defTabSz="2578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Extract Information</a:t>
              </a:r>
              <a:endParaRPr lang="en-US" kern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F4AC1C30-6240-5895-AF6E-4EA0DF13CDDE}"/>
              </a:ext>
            </a:extLst>
          </p:cNvPr>
          <p:cNvGrpSpPr/>
          <p:nvPr/>
        </p:nvGrpSpPr>
        <p:grpSpPr>
          <a:xfrm>
            <a:off x="8974732" y="2582136"/>
            <a:ext cx="654775" cy="828614"/>
            <a:chOff x="3445850" y="1015932"/>
            <a:chExt cx="870799" cy="870799"/>
          </a:xfrm>
        </p:grpSpPr>
        <p:sp>
          <p:nvSpPr>
            <p:cNvPr id="36" name="Arrow: Down 35">
              <a:extLst>
                <a:ext uri="{FF2B5EF4-FFF2-40B4-BE49-F238E27FC236}">
                  <a16:creationId xmlns:a16="http://schemas.microsoft.com/office/drawing/2014/main" id="{9D6A57F0-AF7A-9364-BC0A-8D3EAA912473}"/>
                </a:ext>
              </a:extLst>
            </p:cNvPr>
            <p:cNvSpPr/>
            <p:nvPr/>
          </p:nvSpPr>
          <p:spPr>
            <a:xfrm>
              <a:off x="3445850" y="1015932"/>
              <a:ext cx="870799" cy="870799"/>
            </a:xfrm>
            <a:prstGeom prst="downArrow">
              <a:avLst>
                <a:gd name="adj1" fmla="val 55000"/>
                <a:gd name="adj2" fmla="val 45000"/>
              </a:avLst>
            </a:prstGeom>
          </p:spPr>
          <p:style>
            <a:lnRef idx="1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37" name="Arrow: Down 4">
              <a:extLst>
                <a:ext uri="{FF2B5EF4-FFF2-40B4-BE49-F238E27FC236}">
                  <a16:creationId xmlns:a16="http://schemas.microsoft.com/office/drawing/2014/main" id="{128D2DAC-8E19-DC1D-B774-DF1537EA69D9}"/>
                </a:ext>
              </a:extLst>
            </p:cNvPr>
            <p:cNvSpPr txBox="1"/>
            <p:nvPr/>
          </p:nvSpPr>
          <p:spPr>
            <a:xfrm>
              <a:off x="3641780" y="1015932"/>
              <a:ext cx="478939" cy="65527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5720" tIns="45720" rIns="45720" bIns="45720" numCol="1" spcCol="1270" anchor="ctr" anchorCtr="0">
              <a:noAutofit/>
            </a:bodyPr>
            <a:lstStyle/>
            <a:p>
              <a:pPr marL="0" lvl="0" indent="0" algn="ctr" defTabSz="1600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3600" kern="1200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4AA9B2EB-661F-B03C-F6F2-2CC791AD60F6}"/>
              </a:ext>
            </a:extLst>
          </p:cNvPr>
          <p:cNvGrpSpPr/>
          <p:nvPr/>
        </p:nvGrpSpPr>
        <p:grpSpPr>
          <a:xfrm rot="5400000">
            <a:off x="7284647" y="3477253"/>
            <a:ext cx="722369" cy="870799"/>
            <a:chOff x="3445850" y="1015932"/>
            <a:chExt cx="870799" cy="870799"/>
          </a:xfrm>
        </p:grpSpPr>
        <p:sp>
          <p:nvSpPr>
            <p:cNvPr id="39" name="Arrow: Down 38">
              <a:extLst>
                <a:ext uri="{FF2B5EF4-FFF2-40B4-BE49-F238E27FC236}">
                  <a16:creationId xmlns:a16="http://schemas.microsoft.com/office/drawing/2014/main" id="{B03CC540-3B25-C721-0B8F-2B92D5CBD17A}"/>
                </a:ext>
              </a:extLst>
            </p:cNvPr>
            <p:cNvSpPr/>
            <p:nvPr/>
          </p:nvSpPr>
          <p:spPr>
            <a:xfrm>
              <a:off x="3445850" y="1015932"/>
              <a:ext cx="870799" cy="870799"/>
            </a:xfrm>
            <a:prstGeom prst="downArrow">
              <a:avLst>
                <a:gd name="adj1" fmla="val 55000"/>
                <a:gd name="adj2" fmla="val 45000"/>
              </a:avLst>
            </a:prstGeom>
          </p:spPr>
          <p:style>
            <a:lnRef idx="1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40" name="Arrow: Down 4">
              <a:extLst>
                <a:ext uri="{FF2B5EF4-FFF2-40B4-BE49-F238E27FC236}">
                  <a16:creationId xmlns:a16="http://schemas.microsoft.com/office/drawing/2014/main" id="{73D524AF-E0FD-61AF-D9A1-FA7E5BF1840D}"/>
                </a:ext>
              </a:extLst>
            </p:cNvPr>
            <p:cNvSpPr txBox="1"/>
            <p:nvPr/>
          </p:nvSpPr>
          <p:spPr>
            <a:xfrm>
              <a:off x="3641780" y="1015932"/>
              <a:ext cx="478939" cy="65527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5720" tIns="45720" rIns="45720" bIns="45720" numCol="1" spcCol="1270" anchor="ctr" anchorCtr="0">
              <a:noAutofit/>
            </a:bodyPr>
            <a:lstStyle/>
            <a:p>
              <a:pPr marL="0" lvl="0" indent="0" algn="ctr" defTabSz="1600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3600" kern="1200" dirty="0"/>
            </a:p>
          </p:txBody>
        </p:sp>
      </p:grpSp>
      <p:sp>
        <p:nvSpPr>
          <p:cNvPr id="42" name="Rectangle: Rounded Corners 4">
            <a:extLst>
              <a:ext uri="{FF2B5EF4-FFF2-40B4-BE49-F238E27FC236}">
                <a16:creationId xmlns:a16="http://schemas.microsoft.com/office/drawing/2014/main" id="{86161FAB-8BE1-BC21-B00C-78A78BF61C87}"/>
              </a:ext>
            </a:extLst>
          </p:cNvPr>
          <p:cNvSpPr txBox="1"/>
          <p:nvPr/>
        </p:nvSpPr>
        <p:spPr>
          <a:xfrm>
            <a:off x="1352241" y="3490222"/>
            <a:ext cx="2200905" cy="783615"/>
          </a:xfrm>
          <a:prstGeom prst="rect">
            <a:avLst/>
          </a:prstGeom>
          <a:solidFill>
            <a:srgbClr val="0070C0"/>
          </a:solid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220980" tIns="220980" rIns="220980" bIns="220980" numCol="1" spcCol="1270" anchor="ctr" anchorCtr="0">
            <a:noAutofit/>
          </a:bodyPr>
          <a:lstStyle/>
          <a:p>
            <a:pPr marL="0" lvl="0" indent="0" algn="l" defTabSz="2578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Structured Database</a:t>
            </a:r>
            <a:endParaRPr lang="en-US" kern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0F346E34-5BC5-77E9-AC20-6DC67944152D}"/>
              </a:ext>
            </a:extLst>
          </p:cNvPr>
          <p:cNvGrpSpPr/>
          <p:nvPr/>
        </p:nvGrpSpPr>
        <p:grpSpPr>
          <a:xfrm rot="5400000">
            <a:off x="3653366" y="3490585"/>
            <a:ext cx="695705" cy="870799"/>
            <a:chOff x="3445850" y="1015932"/>
            <a:chExt cx="870799" cy="870799"/>
          </a:xfrm>
        </p:grpSpPr>
        <p:sp>
          <p:nvSpPr>
            <p:cNvPr id="44" name="Arrow: Down 43">
              <a:extLst>
                <a:ext uri="{FF2B5EF4-FFF2-40B4-BE49-F238E27FC236}">
                  <a16:creationId xmlns:a16="http://schemas.microsoft.com/office/drawing/2014/main" id="{81E39852-7229-5D9C-AE64-D05BC6316D79}"/>
                </a:ext>
              </a:extLst>
            </p:cNvPr>
            <p:cNvSpPr/>
            <p:nvPr/>
          </p:nvSpPr>
          <p:spPr>
            <a:xfrm>
              <a:off x="3445850" y="1015932"/>
              <a:ext cx="870799" cy="870799"/>
            </a:xfrm>
            <a:prstGeom prst="downArrow">
              <a:avLst>
                <a:gd name="adj1" fmla="val 55000"/>
                <a:gd name="adj2" fmla="val 45000"/>
              </a:avLst>
            </a:prstGeom>
          </p:spPr>
          <p:style>
            <a:lnRef idx="1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45" name="Arrow: Down 4">
              <a:extLst>
                <a:ext uri="{FF2B5EF4-FFF2-40B4-BE49-F238E27FC236}">
                  <a16:creationId xmlns:a16="http://schemas.microsoft.com/office/drawing/2014/main" id="{5789723A-77A2-ED50-669A-DB8A85FBC363}"/>
                </a:ext>
              </a:extLst>
            </p:cNvPr>
            <p:cNvSpPr txBox="1"/>
            <p:nvPr/>
          </p:nvSpPr>
          <p:spPr>
            <a:xfrm>
              <a:off x="3641780" y="1015932"/>
              <a:ext cx="478939" cy="65527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5720" tIns="45720" rIns="45720" bIns="45720" numCol="1" spcCol="1270" anchor="ctr" anchorCtr="0">
              <a:noAutofit/>
            </a:bodyPr>
            <a:lstStyle/>
            <a:p>
              <a:pPr marL="0" lvl="0" indent="0" algn="ctr" defTabSz="1600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3600" kern="1200" dirty="0"/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FBC1F827-7072-6447-AD85-F4170B7118D9}"/>
              </a:ext>
            </a:extLst>
          </p:cNvPr>
          <p:cNvSpPr txBox="1"/>
          <p:nvPr/>
        </p:nvSpPr>
        <p:spPr>
          <a:xfrm>
            <a:off x="1538945" y="4631405"/>
            <a:ext cx="610688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text is collected.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Regex scans the text.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Matching patterns are identified.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Required information is extracted.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is stored in structured format.</a:t>
            </a:r>
          </a:p>
        </p:txBody>
      </p:sp>
    </p:spTree>
    <p:extLst>
      <p:ext uri="{BB962C8B-B14F-4D97-AF65-F5344CB8AC3E}">
        <p14:creationId xmlns:p14="http://schemas.microsoft.com/office/powerpoint/2010/main" val="2341911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706091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Regex Patterns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E13F391-F896-9EE9-9908-9715D66CF4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5923359"/>
              </p:ext>
            </p:extLst>
          </p:nvPr>
        </p:nvGraphicFramePr>
        <p:xfrm>
          <a:off x="1192616" y="1196752"/>
          <a:ext cx="10360026" cy="3474720"/>
        </p:xfrm>
        <a:graphic>
          <a:graphicData uri="http://schemas.openxmlformats.org/drawingml/2006/table">
            <a:tbl>
              <a:tblPr/>
              <a:tblGrid>
                <a:gridCol w="3453342">
                  <a:extLst>
                    <a:ext uri="{9D8B030D-6E8A-4147-A177-3AD203B41FA5}">
                      <a16:colId xmlns:a16="http://schemas.microsoft.com/office/drawing/2014/main" val="928010535"/>
                    </a:ext>
                  </a:extLst>
                </a:gridCol>
                <a:gridCol w="3453342">
                  <a:extLst>
                    <a:ext uri="{9D8B030D-6E8A-4147-A177-3AD203B41FA5}">
                      <a16:colId xmlns:a16="http://schemas.microsoft.com/office/drawing/2014/main" val="4111383404"/>
                    </a:ext>
                  </a:extLst>
                </a:gridCol>
                <a:gridCol w="3453342">
                  <a:extLst>
                    <a:ext uri="{9D8B030D-6E8A-4147-A177-3AD203B41FA5}">
                      <a16:colId xmlns:a16="http://schemas.microsoft.com/office/drawing/2014/main" val="3003764050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Information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Regex Pattern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Example Output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2695907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Email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Courier New" panose="02070309020205020404" pitchFamily="49" charset="0"/>
                        </a:rPr>
                        <a:t>[A-Za-z0-9._%+-]+@[A-Za-z0-9.-]+\.[A-Za-z]{2,}</a:t>
                      </a:r>
                      <a:endParaRPr lang="en-IN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hlinkClick r:id="rId3"/>
                        </a:rPr>
                        <a:t>abc@gmail.com</a:t>
                      </a:r>
                      <a:endParaRPr lang="en-IN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3238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Phone Number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Courier New" panose="02070309020205020404" pitchFamily="49" charset="0"/>
                        </a:rPr>
                        <a:t>\d{10}</a:t>
                      </a:r>
                      <a:endParaRPr lang="en-IN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9876543210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631072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Date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Courier New" panose="02070309020205020404" pitchFamily="49" charset="0"/>
                        </a:rPr>
                        <a:t>\d{2}/\d{2}/\d{4}</a:t>
                      </a:r>
                      <a:endParaRPr lang="en-IN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15/07/2026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016678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URL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Courier New" panose="02070309020205020404" pitchFamily="49" charset="0"/>
                        </a:rPr>
                        <a:t>https?://\S+</a:t>
                      </a:r>
                      <a:endParaRPr lang="en-IN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hlinkClick r:id="rId4"/>
                        </a:rPr>
                        <a:t>https://google.com</a:t>
                      </a:r>
                      <a:endParaRPr lang="en-IN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683218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PIN Code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Courier New" panose="02070309020205020404" pitchFamily="49" charset="0"/>
                        </a:rPr>
                        <a:t>\d{6}</a:t>
                      </a:r>
                      <a:endParaRPr lang="en-IN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516269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3756794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11AECF89-770D-957E-64A4-A2D880472B7C}"/>
              </a:ext>
            </a:extLst>
          </p:cNvPr>
          <p:cNvSpPr txBox="1"/>
          <p:nvPr/>
        </p:nvSpPr>
        <p:spPr>
          <a:xfrm>
            <a:off x="1218883" y="4797152"/>
            <a:ext cx="610688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Example</a:t>
            </a:r>
          </a:p>
          <a:p>
            <a:pPr rtl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 Rahul</a:t>
            </a:r>
          </a:p>
          <a:p>
            <a:pPr rtl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Email: rahul@gmail.com</a:t>
            </a:r>
          </a:p>
          <a:p>
            <a:pPr rtl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Phone: 9876543210</a:t>
            </a: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Extracted automatically using Regex.</a:t>
            </a:r>
          </a:p>
        </p:txBody>
      </p:sp>
    </p:spTree>
    <p:extLst>
      <p:ext uri="{BB962C8B-B14F-4D97-AF65-F5344CB8AC3E}">
        <p14:creationId xmlns:p14="http://schemas.microsoft.com/office/powerpoint/2010/main" val="4123189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125860" y="167729"/>
            <a:ext cx="8938472" cy="1036143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and Limitations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1269876" y="1556792"/>
            <a:ext cx="7069519" cy="3888432"/>
          </a:xfrm>
        </p:spPr>
        <p:txBody>
          <a:bodyPr>
            <a:noAutofit/>
          </a:bodyPr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 execution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 accuracy for fixed patterns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Easy to implement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training dataset required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Lightweight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 computational cost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Useful in text mining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Cannot understand context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Difficult for complex language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Long expressions are difficult to maintain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Cannot replace AI or NLP completely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4977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1197868" y="116632"/>
            <a:ext cx="10360501" cy="805904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and Comparison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396775-7D28-C7D0-F78D-C30063E93988}"/>
              </a:ext>
            </a:extLst>
          </p:cNvPr>
          <p:cNvSpPr txBox="1"/>
          <p:nvPr/>
        </p:nvSpPr>
        <p:spPr>
          <a:xfrm>
            <a:off x="1485900" y="1484784"/>
            <a:ext cx="610688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Mining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Scraping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Resume Parsing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 Validation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 File Analysis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Cybersecurity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Engines</a:t>
            </a:r>
          </a:p>
        </p:txBody>
      </p:sp>
    </p:spTree>
    <p:extLst>
      <p:ext uri="{BB962C8B-B14F-4D97-AF65-F5344CB8AC3E}">
        <p14:creationId xmlns:p14="http://schemas.microsoft.com/office/powerpoint/2010/main" val="2672039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20F71-DFB6-E627-D5BE-8D81698BD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EFF8DE-806F-4CA1-EC32-DD1F63B9EBC5}"/>
              </a:ext>
            </a:extLst>
          </p:cNvPr>
          <p:cNvSpPr txBox="1"/>
          <p:nvPr/>
        </p:nvSpPr>
        <p:spPr>
          <a:xfrm>
            <a:off x="1184543" y="1612771"/>
            <a:ext cx="6350029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re</a:t>
            </a: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Sample text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= """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 Rahul Sharma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Email: rahul.sharma@gmail.com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Phone: 9876543210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DOB: 15/07/2003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Website: https://www.google.com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PIN Code: 516269</a:t>
            </a: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Rahul is a Python Developer working in AI and Machine Learning.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"""</a:t>
            </a: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Regular Expression Patterns</a:t>
            </a:r>
          </a:p>
          <a:p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name_pattern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r"Name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:\s*([A-Za-z ]+)"</a:t>
            </a:r>
          </a:p>
          <a:p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email_pattern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r"[A-Za-z0-9._%+-]+@[A-Za-z0-9.-]+\.[A-Za-z]{2,}"</a:t>
            </a:r>
          </a:p>
          <a:p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phone_pattern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r"\b\d{10}\b"</a:t>
            </a:r>
          </a:p>
          <a:p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date_pattern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r"\b\d{2}/\d{2}/\d{4}\b"</a:t>
            </a:r>
          </a:p>
          <a:p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url_pattern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r"https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?://\S+"</a:t>
            </a:r>
          </a:p>
          <a:p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pin_pattern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r"\b\d{6}\b"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156E02-D211-AB6D-C43B-6B5494023A2C}"/>
              </a:ext>
            </a:extLst>
          </p:cNvPr>
          <p:cNvSpPr txBox="1"/>
          <p:nvPr/>
        </p:nvSpPr>
        <p:spPr>
          <a:xfrm>
            <a:off x="7030516" y="1612771"/>
            <a:ext cx="611124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Information Extraction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=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re.search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name_pattern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text)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 =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re.findall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email_pattern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text)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phone =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re.findall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phone_pattern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text)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 =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re.findall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date_pattern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text)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website =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re.findall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url_pattern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text)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pin =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re.findall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pin_pattern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text)</a:t>
            </a: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Display Output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print("========== INFORMATION EXTRACTION ==========\n")</a:t>
            </a: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print("Name      :",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name.group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 if name else "Not Found")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print("Email     :", email)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print("Phone     :", phone)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print("DOB       :", date)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print("Website   :", website)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print("PIN Code  :", pin)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61565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F38D4-93A2-18E4-6838-26FCFE259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BB3665-401A-58E2-D051-EC4BEA4948F5}"/>
              </a:ext>
            </a:extLst>
          </p:cNvPr>
          <p:cNvSpPr txBox="1"/>
          <p:nvPr/>
        </p:nvSpPr>
        <p:spPr>
          <a:xfrm>
            <a:off x="981844" y="1916832"/>
            <a:ext cx="828092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========== INFORMATION EXTRACTION ========== Name : Rahul Sharma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 : ['rahul.sharma@gmail.com’]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Phone : ['9876543210'] DOB : ['15/07/2003’]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Website : ['https://www.google.com’]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PIN Code : ['516269']</a:t>
            </a:r>
          </a:p>
        </p:txBody>
      </p:sp>
    </p:spTree>
    <p:extLst>
      <p:ext uri="{BB962C8B-B14F-4D97-AF65-F5344CB8AC3E}">
        <p14:creationId xmlns:p14="http://schemas.microsoft.com/office/powerpoint/2010/main" val="937296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125860" y="116632"/>
            <a:ext cx="10360501" cy="733896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Scope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5D0685-F917-49A3-C4CB-3FDC7A154780}"/>
              </a:ext>
            </a:extLst>
          </p:cNvPr>
          <p:cNvSpPr txBox="1"/>
          <p:nvPr/>
        </p:nvSpPr>
        <p:spPr>
          <a:xfrm>
            <a:off x="1053852" y="1166842"/>
            <a:ext cx="907300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Regex is a powerful pattern-matching technique.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efficiently extracts structured information from text.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fast, lightweight, and widely used in text mining.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suited for extracting predefined patterns like emails, phone numbers, dates, and URLs. </a:t>
            </a: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Regex + Artificial Intelligence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Regex + Natural Language Processing (NLP)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Information Extraction Systems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Document Processing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AI-powered Data Extraction</a:t>
            </a:r>
          </a:p>
        </p:txBody>
      </p:sp>
    </p:spTree>
    <p:extLst>
      <p:ext uri="{BB962C8B-B14F-4D97-AF65-F5344CB8AC3E}">
        <p14:creationId xmlns:p14="http://schemas.microsoft.com/office/powerpoint/2010/main" val="397710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4+ Hundred Thank You Presentation Slide Royalty-Free Images, Stock ...">
            <a:extLst>
              <a:ext uri="{FF2B5EF4-FFF2-40B4-BE49-F238E27FC236}">
                <a16:creationId xmlns:a16="http://schemas.microsoft.com/office/drawing/2014/main" id="{BA9F8E57-DB95-7E33-A294-2F5080D8B80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8522"/>
          <a:stretch>
            <a:fillRect/>
          </a:stretch>
        </p:blipFill>
        <p:spPr>
          <a:xfrm>
            <a:off x="1269876" y="120485"/>
            <a:ext cx="10081120" cy="6620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339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ch 16x9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/>
        </a:defPPr>
      </a:lstStyle>
    </a:txDef>
  </a:objectDefaults>
  <a:extraClrSchemeLst/>
  <a:extLst>
    <a:ext uri="{05A4C25C-085E-4340-85A3-A5531E510DB2}">
      <thm15:themeFamily xmlns:thm15="http://schemas.microsoft.com/office/thememl/2012/main" name="TF02787990.potx" id="{BDB9CD5E-36EC-45F3-B87D-6D062B8A3823}" vid="{51682E2F-7C85-4D6F-AD40-072EFC83910D}"/>
    </a:ext>
  </a:extLst>
</a:theme>
</file>

<file path=ppt/theme/theme2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ocPublishedLinkedAssetsLookup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LocLastLocAttemptVersionTypeLookup xmlns="4873beb7-5857-4685-be1f-d57550cc96cc" xsi:nil="true"/>
    <DirectSourceMarket xmlns="4873beb7-5857-4685-be1f-d57550cc96cc" xsi:nil="true"/>
    <ThumbnailAssetId xmlns="4873beb7-5857-4685-be1f-d57550cc96cc" xsi:nil="true"/>
    <PrimaryImageGen xmlns="4873beb7-5857-4685-be1f-d57550cc96cc">false</PrimaryImageGen>
    <LocNewPublishedVersionLookup xmlns="4873beb7-5857-4685-be1f-d57550cc96cc" xsi:nil="true"/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LocOverallPublishStatusLookup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LocOverallLocStatusLookup xmlns="4873beb7-5857-4685-be1f-d57550cc96cc" xsi:nil="true"/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1345093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>This simple template design works for technology and  businesses, but it's versatile enough to use in other contexts.  It features multiple slide layouts designed for widescreen (16x9 resolution) and includes a sample SmartArt list and chart that are easily editable.</APDescription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2011-11-26T00:30:00+00:00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TemplateStatus xmlns="4873beb7-5857-4685-be1f-d57550cc96cc">Complete</TemplateStatus>
    <Downloads xmlns="4873beb7-5857-4685-be1f-d57550cc96cc">0</Downloads>
    <OOCacheId xmlns="4873beb7-5857-4685-be1f-d57550cc96cc" xsi:nil="true"/>
    <IsDeleted xmlns="4873beb7-5857-4685-be1f-d57550cc96cc">false</IsDeleted>
    <LocPublishedDependentAssetsLookup xmlns="4873beb7-5857-4685-be1f-d57550cc96cc" xsi:nil="true"/>
    <TPExecutable xmlns="4873beb7-5857-4685-be1f-d57550cc96cc" xsi:nil="true"/>
    <EditorialTags xmlns="4873beb7-5857-4685-be1f-d57550cc96cc" xsi:nil="true"/>
    <SubmitterId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TP102787989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694266</LocLastLocAttemptVersionLookup>
    <LocProcessedForHandoffsLookup xmlns="4873beb7-5857-4685-be1f-d57550cc96cc" xsi:nil="true"/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LocOverallPreviewStatusLookup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 xsi:nil="true"/>
    <OutputCachingOn xmlns="4873beb7-5857-4685-be1f-d57550cc96cc">false</OutputCachingOn>
    <AverageRating xmlns="4873beb7-5857-4685-be1f-d57550cc96cc" xsi:nil="true"/>
    <APAuthor xmlns="4873beb7-5857-4685-be1f-d57550cc96cc">
      <UserInfo>
        <DisplayName>REDMOND\kristaa</DisplayName>
        <AccountId>136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LocProcessedForMarketsLookup xmlns="4873beb7-5857-4685-be1f-d57550cc96cc" xsi:nil="true"/>
    <TPLaunchHelpLinkType xmlns="4873beb7-5857-4685-be1f-d57550cc96cc">Template</TPLaunchHelpLinkType>
    <OriginalRelease xmlns="4873beb7-5857-4685-be1f-d57550cc96cc">15</OriginalRelease>
    <LocalizationTagsTaxHTField0 xmlns="4873beb7-5857-4685-be1f-d57550cc96cc">
      <Terms xmlns="http://schemas.microsoft.com/office/infopath/2007/PartnerControls"/>
    </LocalizationTagsTaxHTField0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LocOverallHandbackStatusLookup xmlns="4873beb7-5857-4685-be1f-d57550cc96cc" xsi:nil="true"/>
    <ShowIn xmlns="4873beb7-5857-4685-be1f-d57550cc96cc">Show everywhere</ShowIn>
    <UANotes xmlns="4873beb7-5857-4685-be1f-d57550cc96cc" xsi:nil="true"/>
    <InternalTagsTaxHTField0 xmlns="4873beb7-5857-4685-be1f-d57550cc96cc">
      <Terms xmlns="http://schemas.microsoft.com/office/infopath/2007/PartnerControls"/>
    </InternalTagsTaxHTField0>
    <CSXHash xmlns="4873beb7-5857-4685-be1f-d57550cc96cc" xsi:nil="true"/>
    <VoteCount xmlns="4873beb7-5857-4685-be1f-d57550cc96cc" xsi:nil="true"/>
    <AssetExpire xmlns="4873beb7-5857-4685-be1f-d57550cc96cc">2029-05-12T07:00:00+00:00</AssetExpire>
    <DSATActionTaken xmlns="4873beb7-5857-4685-be1f-d57550cc96cc" xsi:nil="true"/>
    <CSXSubmissionMarket xmlns="4873beb7-5857-4685-be1f-d57550cc96cc" xsi:nil="true"/>
    <LocMarketGroupTiers2 xmlns="4873beb7-5857-4685-be1f-d57550cc96cc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A09BF4D4-EF60-4196-BFC3-9462D60797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0C67BEE-D13F-4BD2-98A5-34D8A0977F68}">
  <ds:schemaRefs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3836F65B-1B07-41EE-A0E8-BC6EF385522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Triple circuit lines presentation (widescreen)</Template>
  <TotalTime>55</TotalTime>
  <Words>789</Words>
  <Application>Microsoft Office PowerPoint</Application>
  <PresentationFormat>Custom</PresentationFormat>
  <Paragraphs>190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Courier New</vt:lpstr>
      <vt:lpstr>Times New Roman</vt:lpstr>
      <vt:lpstr>Tech 16x9</vt:lpstr>
      <vt:lpstr>Designing Efficient Regular Expression Patterns for Information Extraction</vt:lpstr>
      <vt:lpstr>Introduction</vt:lpstr>
      <vt:lpstr>What is Regular Expression (Regex)?</vt:lpstr>
      <vt:lpstr>What is Regular Expression (Regex)?</vt:lpstr>
      <vt:lpstr>Working Process of Regex</vt:lpstr>
      <vt:lpstr>Common Regex Patterns</vt:lpstr>
      <vt:lpstr>Advantages and Limitations</vt:lpstr>
      <vt:lpstr>Applications and Comparison</vt:lpstr>
      <vt:lpstr>Code</vt:lpstr>
      <vt:lpstr>OUTPUT</vt:lpstr>
      <vt:lpstr>Conclusion &amp; Future Scope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kalander p</dc:creator>
  <cp:lastModifiedBy>kalander p</cp:lastModifiedBy>
  <cp:revision>2</cp:revision>
  <dcterms:created xsi:type="dcterms:W3CDTF">2026-07-15T08:37:46Z</dcterms:created>
  <dcterms:modified xsi:type="dcterms:W3CDTF">2026-07-17T06:11:08Z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